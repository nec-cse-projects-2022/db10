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4" r:id="rId14"/>
    <p:sldId id="270" r:id="rId15"/>
    <p:sldId id="276" r:id="rId16"/>
    <p:sldId id="271" r:id="rId17"/>
    <p:sldId id="273" r:id="rId18"/>
    <p:sldId id="272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13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F412B-6FA9-4B3A-A61B-0552AC73DE3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C2694-AF22-425F-B4CB-353623C47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3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C2694-AF22-425F-B4CB-353623C470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23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C2694-AF22-425F-B4CB-353623C4709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7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091111" TargetMode="External"/><Relationship Id="rId2" Type="http://schemas.openxmlformats.org/officeDocument/2006/relationships/hyperlink" Target="https://ieeexplore.ieee.org/document/972125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vdfoundation/google-landmark" TargetMode="External"/><Relationship Id="rId5" Type="http://schemas.openxmlformats.org/officeDocument/2006/relationships/hyperlink" Target="https://doi.org/10.1109/ACCESS.2021.3055575" TargetMode="External"/><Relationship Id="rId4" Type="http://schemas.openxmlformats.org/officeDocument/2006/relationships/hyperlink" Target="https://doi.org/10.1109/ACCESS.2021.3104515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464" y="397307"/>
            <a:ext cx="10101072" cy="1562461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0" tIns="478010" rIns="0" bIns="0" rtlCol="0" anchor="ctr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endParaRPr lang="en-US" sz="1800" spc="-10" dirty="0"/>
          </a:p>
          <a:p>
            <a:pPr marL="248285" algn="ctr">
              <a:lnSpc>
                <a:spcPct val="100000"/>
              </a:lnSpc>
              <a:spcBef>
                <a:spcPts val="545"/>
              </a:spcBef>
            </a:pPr>
            <a:r>
              <a:rPr lang="en-US" sz="2400" dirty="0">
                <a:solidFill>
                  <a:srgbClr val="FF0000"/>
                </a:solidFill>
              </a:rPr>
              <a:t>A Deep Learning Model for Image Super-Resolution and Colorization</a:t>
            </a:r>
            <a:br>
              <a:rPr lang="en-US" sz="2400" dirty="0">
                <a:solidFill>
                  <a:srgbClr val="FF0000"/>
                </a:solidFill>
              </a:rPr>
            </a:br>
            <a:endParaRPr lang="en-US"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5591809" y="2253578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1000" y="2519643"/>
            <a:ext cx="5029200" cy="13226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err="1">
                <a:latin typeface="Times New Roman"/>
                <a:cs typeface="Times New Roman"/>
              </a:rPr>
              <a:t>Dogiparthi</a:t>
            </a:r>
            <a:r>
              <a:rPr lang="en-US" sz="1550" dirty="0">
                <a:latin typeface="Times New Roman"/>
                <a:cs typeface="Times New Roman"/>
              </a:rPr>
              <a:t> Gopi Viswanath	 (22471A05L9)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err="1">
                <a:latin typeface="Times New Roman"/>
                <a:cs typeface="Times New Roman"/>
              </a:rPr>
              <a:t>Mutluri</a:t>
            </a:r>
            <a:r>
              <a:rPr lang="en-US" sz="1550" dirty="0">
                <a:latin typeface="Times New Roman"/>
                <a:cs typeface="Times New Roman"/>
              </a:rPr>
              <a:t> Praveen </a:t>
            </a:r>
            <a:r>
              <a:rPr lang="en-US" sz="1550" dirty="0" err="1">
                <a:latin typeface="Times New Roman"/>
                <a:cs typeface="Times New Roman"/>
              </a:rPr>
              <a:t>kumar</a:t>
            </a:r>
            <a:r>
              <a:rPr lang="en-US" sz="1550" dirty="0">
                <a:latin typeface="Times New Roman"/>
                <a:cs typeface="Times New Roman"/>
              </a:rPr>
              <a:t>                   (22471A05N4)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err="1">
                <a:latin typeface="Times New Roman"/>
                <a:cs typeface="Times New Roman"/>
              </a:rPr>
              <a:t>Lakkoju</a:t>
            </a:r>
            <a:r>
              <a:rPr lang="en-US" sz="1550" dirty="0">
                <a:latin typeface="Times New Roman"/>
                <a:cs typeface="Times New Roman"/>
              </a:rPr>
              <a:t> Venkatesh		 (2357A0517)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1000" y="3677054"/>
            <a:ext cx="4304665" cy="224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MARELLA VENKATRAO </a:t>
            </a:r>
            <a:r>
              <a:rPr lang="en-US" sz="1200" b="1" dirty="0">
                <a:latin typeface="Times New Roman"/>
                <a:cs typeface="Times New Roman"/>
              </a:rPr>
              <a:t>M.Tech</a:t>
            </a:r>
            <a:r>
              <a:rPr sz="1550" b="1" spc="-10" dirty="0"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lang="en-US"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Assistant Professor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44553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0" dirty="0"/>
              <a:t>11/11/2025</a:t>
            </a:r>
            <a:endParaRPr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 .1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DB10</a:t>
            </a:r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0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15040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4517903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Survey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sz="1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spcBef>
                <a:spcPts val="315"/>
              </a:spcBef>
              <a:buFontTx/>
              <a:buAutoNum type="arabicPeriod"/>
              <a:tabLst>
                <a:tab pos="52705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  <a:endParaRPr lang="en-US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</a:t>
            </a:r>
            <a:r>
              <a:rPr lang="en-US"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Db10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938980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555231"/>
            <a:ext cx="10439400" cy="297132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super-resolution and colorization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RSI-Net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uses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multi-task CNN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shared encoder and dual decoders to enhance both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resolution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quality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grayscale low-resolution images. The model is trained on large-scale remote sensing datasets and evaluated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PSNR, SSIM, and CIEDE2000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achieving superior results compared to single-task models. RSI-Net effectively produces sharp, realistic, and color-accurate images, making it useful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 enhancement, restoration, and digital media applications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212641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142654" y="6451049"/>
            <a:ext cx="122301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3273" y="1143000"/>
            <a:ext cx="10972800" cy="4624343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to the Project</a:t>
            </a:r>
            <a:b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low-resolution grayscale images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generating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 and colorized outputs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deep learning model called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RSI-Net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system combines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super-resolution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colorization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tasks in a single framework to restore both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details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information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Behind the Project</a:t>
            </a:r>
            <a:b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upscaling and colorization techniques like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bicubic interpolation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coloring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produce blurred or unrealistic results. With advances in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convolutional networks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now possible to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complex texture and color mappings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 from data, leading to more accurate and visually appealing restorations.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and Relevance</a:t>
            </a:r>
            <a:b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has wide applications in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sensing, historical image restoration, digital art, and multimedia production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enhances visual quality, preserves fine details, and supports research in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 and satellite imagery enhancement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356509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77000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123234"/>
              </p:ext>
            </p:extLst>
          </p:nvPr>
        </p:nvGraphicFramePr>
        <p:xfrm>
          <a:off x="381000" y="1052194"/>
          <a:ext cx="11429999" cy="527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3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29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29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9337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Deep CNN for Remote Sensing Image Super-Resolution and Colorization</a:t>
                      </a:r>
                    </a:p>
                  </a:txBody>
                  <a:tcPr marL="9525" marR="9525" marT="9525" marB="0" anchor="b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2"/>
                        </a:rPr>
                        <a:t>https://ieeexplore.ieee.org/document/9721252</a:t>
                      </a:r>
                      <a:endParaRPr lang="en-US" sz="7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Jianan Feng, Qian Jiang, Xin Jin, Ling Liu, Wei Zhou,2022 and IEEE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Image Resizing, Grayscale Conversion, Normalization, Dataset Splitting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Convolutional Neural Networks (CNNs), RSI-Net (Remote Sensing Image Improvement Network)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,Multiscale Residual Block (MRB), Dual Attention Block (DAB), Loss Functions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Multiscale Residual Block (MRB)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Dual Attention Block (DAB)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Involution-Based Downsample Block (IDB)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Intensive Multiscale Upsample Block (IMUB)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5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DL-Net for Deep Feature-Space Image Colorization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https://ieeexplore.ieee.org/document/10091111</a:t>
                      </a:r>
                      <a:endParaRPr lang="en-US" sz="7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Mrityunjoy Gain &amp; Rameswar Debnath,2023 and Ieee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Conversion to CIE L*a*b* Color Space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Image Resizing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Splitting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Clustering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DL-Net (Deep Localization Network)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Localized Loss Function (LL)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DenseNet (Densely Connected Convolutional Network)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Convolutional Neural Network (CNN)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DL-Net (Deep Localization Network)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Localized Loss Function (LL)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Efficient Model Structure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Convolutional Neural Network (CNN)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49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Evaluation of Grayscale Image Colorization Techniques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10.1109/ACCESS.2021.3104515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Ivana Žeger,  Sonja Grgić,  Josip Vuković and  Gordan Šišul,2021,IEEE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Conversion to CIE L*a*b* Color Space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Image Resizing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Splitting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Clustering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Plain Colorization Networks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User-Guided NetWorks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Diverse Networks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Multi-path Networks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User-guided deep learning models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Automatic deep learning methods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GAN-based models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Grayscale Image Colorization Methods: Overview and Evaluation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https://doi.org/10.1109/ACCESS.2021.3104515</a:t>
                      </a:r>
                      <a:endParaRPr lang="en-US" sz="7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Josip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Vukovic,Gordan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Šišul,2021,IEEE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color spaces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Resizing images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Normalization and augmentation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Plain CNNs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User-guided CNNs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Diverse colorization (GANs, VAEs)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Multi-path CNNs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Exemplar-based CNNs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Unified Evaluation Framework: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Comparison of Objective Metrics: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Benchmarking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6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Double-Channel Guided Generative Adversarial Network for Image Colorization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https://doi.org/10.1109/ACCESS.2021.3055575</a:t>
                      </a:r>
                      <a:endParaRPr lang="en-US" sz="7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Kangning Du,Changtong Liu,and Lin Cao,2021and IEEE  </a:t>
                      </a:r>
                      <a:endParaRPr lang="en-US" sz="7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Reference component selection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similarity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(Normalized Cross-Correlation)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Reference Component Matching (RCM) Module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Double-Channel Guided Colorization Module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DCGGAN 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Automatic reference selection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1FF14-77B6-4437-2943-B8E1C027E2DD}"/>
              </a:ext>
            </a:extLst>
          </p:cNvPr>
          <p:cNvSpPr txBox="1"/>
          <p:nvPr/>
        </p:nvSpPr>
        <p:spPr>
          <a:xfrm>
            <a:off x="687386" y="1188070"/>
            <a:ext cx="108172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Limited Feature Integration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approaches handle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super-resolution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separately, missing the advantages of a unified learning framework.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Lack of Contextual Understanding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fail to jointly capture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textures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dependencies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unrealistic or blurry reconstructions.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Poor Generalization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models trained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images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poorly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 or grayscale datasets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limiting real-world adaptability.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Feature Imbalance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super-resolution networks often require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computation and large datasets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efficiency for edge or real-time applications.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Limited Use of Advanced Models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studies explore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multi-task CNN architectures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enhance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resolution and color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a single deep model.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77573" y="1143000"/>
            <a:ext cx="10744200" cy="477823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Issue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grayscale or low-resolution images suffer from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detail and absence of color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their usability in areas like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sensing, historical preservation, and media restoration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Limitations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super-resolution and colorization methods rely on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single-task deep networks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fail to recover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textures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color tones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They also lack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learning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spatial and color domains, leading to blurred and desaturated outputs.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deep learning model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simultaneously perform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super-resolution and colorization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effectively learning the relationship between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luminance and chrominance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realistic, high-quality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RSI-Net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multi-task CNN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enhances both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resolution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accuracy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grayscale images, delivering superior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fidelity and structural consistency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existing models.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52271" y="1371600"/>
            <a:ext cx="10887456" cy="4624343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  <a:b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model (RSI-Net)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performs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super-resolution and colorization simultaneously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both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detail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accuracy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low-quality grayscale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and analyze 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existing super-resolution and colorization models.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and preprocess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remote sensing image datasets for effective training and validation.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multi-task CNN architecture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shared encoder and dual decoders for luminance and chrominance enhancement.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network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loss functions that jointly optimize structural detail and color consistency.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metrics such as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PSNR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CIEDE2000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proposed RSI-Net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existing single-task models to demonstrate its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robustness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7" y="6451049"/>
            <a:ext cx="98082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18198" y="6431450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E90514-158E-19B1-1FE9-D53989639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371600"/>
            <a:ext cx="7277100" cy="48514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/>
              <a:t>11/11/2025</a:t>
            </a:r>
            <a:endParaRPr lang="en-US">
              <a:effectLst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1242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4287" y="1295400"/>
            <a:ext cx="5097347" cy="28623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0" tIns="60960" rIns="0" bIns="0" rtlCol="0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and Approaches 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1.Preprocessing.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model,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RSI-Net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developed to perform both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super-resolution and colorization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simultaneously using a multi-task convolutional neural network. The dataset used for training is derived from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NWPU-RESISC45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remote sensing collection, consisting of diverse RGB images. Each high-resolution image is converted into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low-resolution grayscale version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bicubic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scale factor of 4. All images are resized 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256×256 pixels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normalized, and divided into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training, validation, and testing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sets in an 8:1:1 ratio to ensure balanced evaluation.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3F00D-AAA0-57F3-BA12-2785A73740FF}"/>
                  </a:ext>
                </a:extLst>
              </p:cNvPr>
              <p:cNvSpPr txBox="1"/>
              <p:nvPr/>
            </p:nvSpPr>
            <p:spPr>
              <a:xfrm>
                <a:off x="489425" y="3886200"/>
                <a:ext cx="5132209" cy="22467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1200" b="1" dirty="0">
                    <a:latin typeface="Times New Roman" panose="02020603050405020304" pitchFamily="18" charset="0"/>
                    <a:cs typeface="+mj-cs"/>
                  </a:rPr>
                  <a:t>2. Exploratory Data Analysis (EDA)</a:t>
                </a:r>
              </a:p>
              <a:p>
                <a:pPr algn="just"/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RSI-Net architecture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includes a shared encoder that extracts spatial features from the grayscale input and two decoder branches — one for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super-resolution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reconstructs fine structural details, and another for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colorization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predicts chrominance information. Both decoders are trained jointly using a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composite loss function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combines luminance and chrominance mean squared </a:t>
                </a:r>
                <a:r>
                  <a:rPr lang="en-US" sz="1600" dirty="0">
                    <a:cs typeface="+mj-cs"/>
                  </a:rPr>
                  <a:t>:</a:t>
                </a:r>
                <a:br>
                  <a:rPr lang="en-US" sz="1600" dirty="0">
                    <a:cs typeface="+mj-cs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𝑡𝑜𝑡𝑎𝑙</m:t>
                        </m:r>
                      </m:sub>
                    </m:sSub>
                    <m:r>
                      <a:rPr lang="ar-AE" sz="16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b>
                      <m:sSubPr>
                        <m:ctrlP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𝜆</m:t>
                        </m:r>
                      </m:e>
                      <m:sub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𝑆𝑅</m:t>
                        </m:r>
                      </m:sub>
                    </m:sSub>
                    <m:r>
                      <a:rPr lang="ar-AE" sz="16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+mj-cs"/>
                      </a:rPr>
                      <m:t>⋅</m:t>
                    </m:r>
                    <m:r>
                      <a:rPr lang="ar-AE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+mj-cs"/>
                      </a:rPr>
                      <m:t>𝑀𝑆</m:t>
                    </m:r>
                    <m:sSub>
                      <m:sSubPr>
                        <m:ctrlP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𝐸</m:t>
                        </m:r>
                      </m:e>
                      <m:sub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𝑌</m:t>
                        </m:r>
                      </m:sub>
                    </m:sSub>
                    <m:r>
                      <a:rPr lang="ar-AE" sz="16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+mj-cs"/>
                      </a:rPr>
                      <m:t>+</m:t>
                    </m:r>
                    <m:sSub>
                      <m:sSubPr>
                        <m:ctrlP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𝜆</m:t>
                        </m:r>
                      </m:e>
                      <m:sub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𝐶𝑜𝑙𝑜𝑟</m:t>
                        </m:r>
                      </m:sub>
                    </m:sSub>
                    <m:r>
                      <a:rPr lang="ar-AE" sz="16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+mj-cs"/>
                      </a:rPr>
                      <m:t>⋅</m:t>
                    </m:r>
                    <m:d>
                      <m:dPr>
                        <m:ctrlP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𝑀𝑆</m:t>
                        </m:r>
                        <m:sSub>
                          <m:sSubPr>
                            <m:ctrlP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𝐸</m:t>
                            </m:r>
                          </m:e>
                          <m:sub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  <m:r>
                              <a:rPr lang="ar-AE" sz="160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∗</m:t>
                            </m:r>
                          </m:sub>
                        </m:sSub>
                        <m:r>
                          <a:rPr lang="ar-AE" sz="160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𝑀𝑆</m:t>
                        </m:r>
                        <m:sSub>
                          <m:sSubPr>
                            <m:ctrlP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𝐸</m:t>
                            </m:r>
                          </m:e>
                          <m:sub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  <m:r>
                              <a:rPr lang="ar-AE" sz="160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∗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1600" dirty="0">
                    <a:cs typeface="+mj-cs"/>
                  </a:rPr>
                  <a:t>.</a:t>
                </a:r>
                <a:r>
                  <a:rPr lang="en-US" sz="1600" dirty="0">
                    <a:latin typeface="Times New Roman" panose="02020603050405020304" pitchFamily="18" charset="0"/>
                    <a:cs typeface="+mj-cs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3F00D-AAA0-57F3-BA12-2785A7374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25" y="3886200"/>
                <a:ext cx="5132209" cy="2246769"/>
              </a:xfrm>
              <a:prstGeom prst="rect">
                <a:avLst/>
              </a:prstGeom>
              <a:blipFill>
                <a:blip r:embed="rId2"/>
                <a:stretch>
                  <a:fillRect l="-594" t="-272" r="-713" b="-24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D01180A-D05D-39E1-D4D1-69596B4D267D}"/>
              </a:ext>
            </a:extLst>
          </p:cNvPr>
          <p:cNvSpPr txBox="1"/>
          <p:nvPr/>
        </p:nvSpPr>
        <p:spPr>
          <a:xfrm>
            <a:off x="5827410" y="1473529"/>
            <a:ext cx="6096000" cy="23083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trained using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optimizer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an initial learning rate of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1×10⁻⁴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adjusted through a cosine annealing schedule. Regularization techniques such as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(random flips, rotations, and crops),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applied to prevent overfitting. Evaluation metrics including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Signal-to-Noise Ratio (PSNR)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Similarity Index (SSIM)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CIEDE2000 color difference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assess model performance. The implementation is carried out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leveraging GPU acceleration for faster training and improved convergence.</a:t>
            </a:r>
            <a:endParaRPr lang="ar-A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6067A-211A-11AF-64EA-3BFD09D615C6}"/>
              </a:ext>
            </a:extLst>
          </p:cNvPr>
          <p:cNvSpPr txBox="1"/>
          <p:nvPr/>
        </p:nvSpPr>
        <p:spPr>
          <a:xfrm>
            <a:off x="5827410" y="3980946"/>
            <a:ext cx="6096000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Algorithms &amp; Training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BCEWithLogitsLoss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pos_weight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fix imbalance.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2e-5).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based 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 F1 score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Accuracy, F1, AUC, Precision, Recall.</a:t>
            </a: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178313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19600" y="6451049"/>
            <a:ext cx="9144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US" spc="-25" dirty="0"/>
              <a:t>.DB10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2924" y="1235720"/>
            <a:ext cx="4965272" cy="4462760"/>
          </a:xfrm>
          <a:prstGeom prst="rect">
            <a:avLst/>
          </a:prstGeom>
        </p:spPr>
        <p:txBody>
          <a:bodyPr vert="horz" wrap="square" lIns="0" tIns="60960" rIns="0" bIns="0" numCol="1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 (Python, PyTorch)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TwiBot-20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+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metadata fusion.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trained, validated, and saved as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hybrid_model.pth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Colab (Linux)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PyTorch,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Pandas, NumPy, Matplotlib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3CE67-B665-C062-4108-58FF9275814B}"/>
              </a:ext>
            </a:extLst>
          </p:cNvPr>
          <p:cNvSpPr txBox="1"/>
          <p:nvPr/>
        </p:nvSpPr>
        <p:spPr>
          <a:xfrm>
            <a:off x="5980256" y="1295400"/>
            <a:ext cx="60944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 NVIDIA Tesla T4 / A100 (16 GB)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25 GB | Storage: 100 GB (Google Drive)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Weighted loss &amp; sampler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tweets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cleaning &amp; normalization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stopping &amp; dropout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training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GPU acceleration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038B5A-5EF9-1470-B1C3-680D747D6E52}"/>
              </a:ext>
            </a:extLst>
          </p:cNvPr>
          <p:cNvCxnSpPr/>
          <p:nvPr/>
        </p:nvCxnSpPr>
        <p:spPr>
          <a:xfrm>
            <a:off x="0" y="11430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6B5718-9887-84B1-60CE-7AD5B01F496B}"/>
              </a:ext>
            </a:extLst>
          </p:cNvPr>
          <p:cNvCxnSpPr/>
          <p:nvPr/>
        </p:nvCxnSpPr>
        <p:spPr>
          <a:xfrm>
            <a:off x="0" y="5791200"/>
            <a:ext cx="12268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F58CE4-789D-8F50-73CD-947377767912}"/>
              </a:ext>
            </a:extLst>
          </p:cNvPr>
          <p:cNvCxnSpPr/>
          <p:nvPr/>
        </p:nvCxnSpPr>
        <p:spPr>
          <a:xfrm>
            <a:off x="5827410" y="1143000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DAA480-7055-E5E5-75C2-3E8BE7186C81}"/>
              </a:ext>
            </a:extLst>
          </p:cNvPr>
          <p:cNvCxnSpPr/>
          <p:nvPr/>
        </p:nvCxnSpPr>
        <p:spPr>
          <a:xfrm>
            <a:off x="0" y="3733800"/>
            <a:ext cx="58274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8E98E52-C0AD-C58F-444B-E1A39495856C}"/>
              </a:ext>
            </a:extLst>
          </p:cNvPr>
          <p:cNvCxnSpPr/>
          <p:nvPr/>
        </p:nvCxnSpPr>
        <p:spPr>
          <a:xfrm>
            <a:off x="5827410" y="2743200"/>
            <a:ext cx="63645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E972B-9256-6CEA-9C4A-DDE8FBBC0DBD}"/>
              </a:ext>
            </a:extLst>
          </p:cNvPr>
          <p:cNvSpPr txBox="1"/>
          <p:nvPr/>
        </p:nvSpPr>
        <p:spPr>
          <a:xfrm>
            <a:off x="5638800" y="1483468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Training Progress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training and validation results of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RSI-Net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demonstrate steady performance improvement across epochs.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 consistent decrease, indicating effective learning and stable convergence throughout training. Similarly, evaluation metrics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Signal-to-Noise Ratio (PSNR)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Similarity Index (SSIM)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steadily increased, confirming the model’s ability to enhance both spatial and color quality simultaneously.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employed to prevent overfitting when the validation loss reached a plateau, ensuring optimal generalization on unseen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F22CD-BF59-4F37-4716-7EA75AB4B1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542939"/>
            <a:ext cx="4696511" cy="19354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8518A-6977-167A-8D98-00A49CC0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EE7055-B76C-EE6F-08CC-92E7EE730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4C7190-8F23-7E3D-3258-59ECE8BB40B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8EE467A-0007-6248-D5FC-035475F9AB5C}"/>
              </a:ext>
            </a:extLst>
          </p:cNvPr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C5C05E2-116E-9B2A-A763-5B1B6F1C498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EB3C56-44F1-46F5-D60B-34645CDE98C2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4811474-3062-D6CB-ED56-6304320ACB4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EAB21-4A9D-B3CA-C9C2-D3395F590F56}"/>
              </a:ext>
            </a:extLst>
          </p:cNvPr>
          <p:cNvSpPr txBox="1"/>
          <p:nvPr/>
        </p:nvSpPr>
        <p:spPr>
          <a:xfrm>
            <a:off x="5132618" y="1720840"/>
            <a:ext cx="675458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evaluation achieved an average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PSNR of 28.65 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SSIM of 0.89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signifying high reconstruction fidelity and strong preservation of structural details. Additionally,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CIEDE2000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 remained below 3.0, proving that the model produces perceptually accurate colorization. Visual analysis of the results confirmed that the proposed RSI-Net successfully reconstructed fine textures and vivid color tones, especially in complex scenes like forests, urban areas, and water bodies. These outcomes validate that RSI-Net effectively captures spatial–spectral correlations, outperforming traditional single-task enhancement techniques in both clarity and realism.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2C02DC-0059-E880-79F7-4F38D2B918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461258"/>
            <a:ext cx="4696511" cy="193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08831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3810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/>
              <a:t>11/11/2025</a:t>
            </a:r>
            <a:endParaRPr lang="en-US">
              <a:effectLst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74650" y="1347661"/>
            <a:ext cx="11442700" cy="416267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just"/>
            <a:r>
              <a:rPr lang="en-US" sz="2400" dirty="0"/>
              <a:t>The proposed </a:t>
            </a:r>
            <a:r>
              <a:rPr lang="en-US" sz="2400" b="1" dirty="0"/>
              <a:t>RSI-Net model</a:t>
            </a:r>
            <a:r>
              <a:rPr lang="en-US" sz="2400" dirty="0"/>
              <a:t> successfully integrates </a:t>
            </a:r>
            <a:r>
              <a:rPr lang="en-US" sz="2400" b="1" dirty="0"/>
              <a:t>super-resolution and colorization</a:t>
            </a:r>
            <a:r>
              <a:rPr lang="en-US" sz="2400" dirty="0"/>
              <a:t> into a single deep learning framework, enhancing both spatial details and color accuracy of grayscale images. Experimental results demonstrated significant improvements in image quality, achieving a </a:t>
            </a:r>
            <a:r>
              <a:rPr lang="en-US" sz="2400" b="1" dirty="0"/>
              <a:t>PSNR of 28.65 dB</a:t>
            </a:r>
            <a:r>
              <a:rPr lang="en-US" sz="2400" dirty="0"/>
              <a:t>, </a:t>
            </a:r>
            <a:r>
              <a:rPr lang="en-US" sz="2400" b="1" dirty="0"/>
              <a:t>SSIM of 0.89</a:t>
            </a:r>
            <a:r>
              <a:rPr lang="en-US" sz="2400" dirty="0"/>
              <a:t>, and </a:t>
            </a:r>
            <a:r>
              <a:rPr lang="en-US" sz="2400" b="1" dirty="0"/>
              <a:t>CIEDE2000 below 3.0</a:t>
            </a:r>
            <a:r>
              <a:rPr lang="en-US" sz="2400" dirty="0"/>
              <a:t>, outperforming traditional single-task methods. The model effectively captured fine textures and realistic color tones, making it suitable for applications such as </a:t>
            </a:r>
            <a:r>
              <a:rPr lang="en-US" sz="2400" b="1" dirty="0"/>
              <a:t>satellite image enhancement</a:t>
            </a:r>
            <a:r>
              <a:rPr lang="en-US" sz="2400" dirty="0"/>
              <a:t>, </a:t>
            </a:r>
            <a:r>
              <a:rPr lang="en-US" sz="2400" b="1" dirty="0"/>
              <a:t>historical image restoration</a:t>
            </a:r>
            <a:r>
              <a:rPr lang="en-US" sz="2400" dirty="0"/>
              <a:t>, and </a:t>
            </a:r>
            <a:r>
              <a:rPr lang="en-US" sz="2400" b="1" dirty="0"/>
              <a:t>digital content generation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The significance of these results lies in the model’s ability to jointly learn </a:t>
            </a:r>
            <a:r>
              <a:rPr lang="en-US" sz="2400" b="1" dirty="0"/>
              <a:t>spatial and chromatic features</a:t>
            </a:r>
            <a:r>
              <a:rPr lang="en-US" sz="2400" dirty="0"/>
              <a:t>, proving that multi-task learning provides superior performance compared to independent task networks. The </a:t>
            </a:r>
            <a:r>
              <a:rPr lang="en-US" sz="2400" b="1" dirty="0"/>
              <a:t>RSI-Net framework</a:t>
            </a:r>
            <a:r>
              <a:rPr lang="en-US" sz="2400" dirty="0"/>
              <a:t> demonstrates strong generalization and can be extended for real-time visual enhancement systems.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E958-1FB5-C67D-3A0D-71F5AB0A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D1E68D-3320-3727-3535-F47D882BAD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638BAA7-54FE-0D23-750B-04BDE2B9B6A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9C969EE-18B4-FDFB-77B1-86537DC11181}"/>
              </a:ext>
            </a:extLst>
          </p:cNvPr>
          <p:cNvSpPr txBox="1"/>
          <p:nvPr/>
        </p:nvSpPr>
        <p:spPr>
          <a:xfrm>
            <a:off x="4332406" y="6465822"/>
            <a:ext cx="16764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B1D9124-5557-814F-9781-2B3B4B620D9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4251870-D769-0DC1-BD51-2D54309E3CB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EF62112-9259-EB53-EC00-592C7122167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B7DEA59-4D87-62DD-A416-6314800CA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3400" y="1483468"/>
            <a:ext cx="11442700" cy="1946687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/>
              <a:t>Future enhancements</a:t>
            </a:r>
            <a:r>
              <a:rPr lang="en-US" sz="2400" dirty="0"/>
              <a:t> may include integrating </a:t>
            </a:r>
            <a:r>
              <a:rPr lang="en-US" sz="2400" b="1" dirty="0"/>
              <a:t>transformer-based encoders</a:t>
            </a:r>
            <a:r>
              <a:rPr lang="en-US" sz="2400" dirty="0"/>
              <a:t> for improved feature attention, </a:t>
            </a:r>
            <a:r>
              <a:rPr lang="en-US" sz="2400" b="1" dirty="0"/>
              <a:t>multi-sensor image fusion</a:t>
            </a:r>
            <a:r>
              <a:rPr lang="en-US" sz="2400" dirty="0"/>
              <a:t> for remote sensing applications, and optimizing the model for </a:t>
            </a:r>
            <a:r>
              <a:rPr lang="en-US" sz="2400" b="1" dirty="0"/>
              <a:t>real-time deployment</a:t>
            </a:r>
            <a:r>
              <a:rPr lang="en-US" sz="2400" dirty="0"/>
              <a:t> on low-power edge devices. Overall, RSI-Net offers a practical, efficient, and scalable solution for enhancing the visual quality and realism of low-resolution grayscale imagery.</a:t>
            </a:r>
          </a:p>
        </p:txBody>
      </p:sp>
    </p:spTree>
    <p:extLst>
      <p:ext uri="{BB962C8B-B14F-4D97-AF65-F5344CB8AC3E}">
        <p14:creationId xmlns:p14="http://schemas.microsoft.com/office/powerpoint/2010/main" val="66675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/>
              <a:t>11/11/2025</a:t>
            </a:r>
            <a:endParaRPr lang="en-US">
              <a:effectLst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76588" y="6465211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51A32E1-983E-8552-B5A3-DA654ED44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067603"/>
            <a:ext cx="11811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Dong, C. C. Loy, K. He, and X. Tang,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“Image Super-Resolution Using Deep Convolutional Networks,”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TPAMI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2015.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Lim, S. Son, H. Kim, S. Nah, and K. Mu Lee,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“Enhanced Deep Residual Networks for Single Image Super-Resolution,”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CVPR Workshops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2017.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Y. Zhang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“Image Super-Resolution Using Very Deep Residual Channel Attention Networks,”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2018.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R. Zhang, P. Isola, and A. A. Efros,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“Colorful Image Colorization,”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2016.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Iizuka, E. Simo-Serra, and H. Ishikawa,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“Let There Be Color!: Joint End-to-End Learning of Global and Local Image Priors,”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ACM TOG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2016.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G. Larsson, M. Maire, and G.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Shakhnarovich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“Learning Representations for Automatic Colorization,”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2016.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G. Vitoria, A. Romero, and C. Ballester,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ChromaGAN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Adversarial Picture Colorization with Semantic Class Distribution,”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L. Mou and X. X. Zhu,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“Deep Learning-Based Supervised Remote Sensing Image Colorization Using Multispectral Guidance,”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Y. Mei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“Image Super-Resolution with Cross-Scale Non-Local Attention and Self-Exemplar Mining,”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TIP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R. Zamir et al.,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Robust Learning Approach to Multi-Task Learning,”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410200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DB10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483468"/>
            <a:ext cx="11274425" cy="490134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sincerely thank our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coordinators, faculty, and mentors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continuous guidance, encouragement, and support throughout this project —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Deep Learning Model for Image Super-Resolution and Colorization.”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valuable feedback and motivation have greatly contributed to the successful completion of our work.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extend our gratitude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 Engineering College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providing the necessary facilities and resources to carry out our research effectively.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further discussions or collaboration inquiries, please feel free to contact us: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MARELLA VENKATRAO,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M.Tech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DOGIPARTHI GOPI VISWANATH (22471A05L9)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MUTLURI PRAVEEN KUMAR (22471A05N4)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LAKKOJU VENKATESH (23475A0517)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4572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11/11/2025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19600" y="6451049"/>
            <a:ext cx="8382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US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US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 .1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10512425" cy="241732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 From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DB10</a:t>
            </a:r>
          </a:p>
          <a:p>
            <a:pPr algn="ctr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appreciate your attention and interest.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we’d like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floor for questions and discussions.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 free to ask about the model, dataset, or future work!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2686</Words>
  <Application>Microsoft Office PowerPoint</Application>
  <PresentationFormat>Widescreen</PresentationFormat>
  <Paragraphs>258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Cambria Math</vt:lpstr>
      <vt:lpstr>Segoe UI</vt:lpstr>
      <vt:lpstr>Times New Roman</vt:lpstr>
      <vt:lpstr>Wingdings</vt:lpstr>
      <vt:lpstr>Office Theme</vt:lpstr>
      <vt:lpstr>Department of Computer Science and Engineering A Deep Learning Model for Image Super-Resolution and Colorization </vt:lpstr>
      <vt:lpstr>OUTLINE</vt:lpstr>
      <vt:lpstr>ABSTRACT</vt:lpstr>
      <vt:lpstr>INTRODUCTION</vt:lpstr>
      <vt:lpstr>LITERATURE SURVEY</vt:lpstr>
      <vt:lpstr>RESEARCH GAPS</vt:lpstr>
      <vt:lpstr>PROBLEM STATEMENT</vt:lpstr>
      <vt:lpstr>OBJECTIVES</vt:lpstr>
      <vt:lpstr>BLOCK DIAGRAM OR FLOW DIAGRAM</vt:lpstr>
      <vt:lpstr>METHODOLOGY</vt:lpstr>
      <vt:lpstr>IMPLEMENTATION</vt:lpstr>
      <vt:lpstr>RESULTS &amp; ANALYSIS</vt:lpstr>
      <vt:lpstr>RESULTS &amp; ANALYSIS</vt:lpstr>
      <vt:lpstr>CONCLUSION and FUTURE SCOPE</vt:lpstr>
      <vt:lpstr>CONCLUSION and FUTURE SCOPE</vt:lpstr>
      <vt:lpstr>REFERENCES</vt:lpstr>
      <vt:lpstr>ACKNOWLEGEMENTS</vt:lpstr>
      <vt:lpstr>QUESTIONS and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SHAKEER</dc:creator>
  <cp:lastModifiedBy>NIHARIKA DOGIPARTHI</cp:lastModifiedBy>
  <cp:revision>7</cp:revision>
  <dcterms:created xsi:type="dcterms:W3CDTF">2025-11-01T04:34:19Z</dcterms:created>
  <dcterms:modified xsi:type="dcterms:W3CDTF">2025-11-11T01:48:31Z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2025-11-01T00:00:00Z</vt:filetime>
  </property>
</Properties>
</file>